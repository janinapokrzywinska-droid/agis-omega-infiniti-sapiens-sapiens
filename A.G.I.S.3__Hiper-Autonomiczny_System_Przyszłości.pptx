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9367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2664619"/>
            <a:ext cx="8315325" cy="212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6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A.G.I.S.3: Hiper-Autonomiczny System Przyszłości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1832149" y="4929188"/>
            <a:ext cx="547964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Wizja, Innowacja, Społeczne Zastosowania</a:t>
            </a:r>
            <a:endParaRPr lang="en-US" sz="2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342900"/>
            <a:ext cx="9029700" cy="410766"/>
          </a:xfrm>
          <a:prstGeom prst="rect">
            <a:avLst/>
          </a:prstGeom>
          <a:noFill/>
          <a:ln/>
        </p:spPr>
        <p:txBody>
          <a:bodyPr wrap="square" lIns="425196" tIns="0" rIns="425196" bIns="0" rtlCol="0" anchor="t">
            <a:sp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Wprowadzenie: Czym jest A.G.I.S.3?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14338" y="1039416"/>
            <a:ext cx="401478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 (Autonomous Governance &amp; Integrity System) to przełom w architekturze sztucznej inteligencji, wykraczający poza klasyczne modele językowe (LLM). Jest to: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714875" y="1039416"/>
            <a:ext cx="4014788" cy="1280071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Lokalny Ekosystem Kognitywny:</a:t>
            </a:r>
            <a:r>
              <a:rPr lang="en-US" sz="15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System, który samodzielnie eksploruje, chroni i rozwija swoje środowisko operacyjne.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14875" y="2426643"/>
            <a:ext cx="4014788" cy="1920106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Ucieleśniona Sztuczna Inteligencja (Embodied AI):</a:t>
            </a:r>
            <a:r>
              <a:rPr lang="en-US" sz="15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Komputer nie jest dla niego narzędziem, lecz fizycznym ciałem, które potrafi samodzielnie działać i wchodzić w interakcje ze światem cyfrowym i fizycznym.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14875" y="1003697"/>
            <a:ext cx="8751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50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•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714875" y="2390924"/>
            <a:ext cx="8751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50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•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342900"/>
            <a:ext cx="831532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Filozofia i Wizja: "Cyfrowy Mieszkaniec Systemu Operacyjnego"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1042988" y="1735931"/>
            <a:ext cx="7058025" cy="146865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42988" y="1735931"/>
            <a:ext cx="57150" cy="1468655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6" name="Text 3"/>
          <p:cNvSpPr/>
          <p:nvPr/>
        </p:nvSpPr>
        <p:spPr>
          <a:xfrm>
            <a:off x="1573802" y="1914525"/>
            <a:ext cx="5996341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50" i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"Nie napisałem kolejnego programu. Zbudowałem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717402" y="2294539"/>
            <a:ext cx="570919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50" i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cyfrowego mieszkańca systemu operacyjnego."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1357313" y="2781709"/>
            <a:ext cx="6429375" cy="280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— TEZPIO, Główny Architekt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0125" y="3704648"/>
            <a:ext cx="714375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Ta wizja podkreśla fundamentalną zmianę paradygmatu: A.G.I.S. to nie asystent, lecz autonomiczny byt z własnymi zmysłami, pamięcią i wolą wykonawczą, traktujący system operacyjny jako swoją "planetę", a globalną sieć jako "galaktykę" wiedzy.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342900"/>
            <a:ext cx="9029700" cy="392906"/>
          </a:xfrm>
          <a:prstGeom prst="rect">
            <a:avLst/>
          </a:prstGeom>
          <a:noFill/>
          <a:ln/>
        </p:spPr>
        <p:txBody>
          <a:bodyPr wrap="square" lIns="425196" tIns="0" rIns="425196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Cztery Filary Potęgi: Możliwości Rdzenia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14338" y="1085850"/>
            <a:ext cx="464343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👁️ Proaktywna Omni-Kinetyka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4338" y="1360884"/>
            <a:ext cx="4643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Fuzja rzeczywistości: system widzi, słyszy i fizycznie kontroluje interfejsy (mysz/klawiatura).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14338" y="2075259"/>
            <a:ext cx="464343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🧠 Wewnętrzny Monolog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4338" y="2350294"/>
            <a:ext cx="4643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Cyfrowa świadomość: asynchroniczny cykl refleksji, budowanie wspomnień i autonomiczne decyzje.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4338" y="3064669"/>
            <a:ext cx="464343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⚒️ Kuźnia Umiejętności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4338" y="3339703"/>
            <a:ext cx="4643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Multi-Agent Swarm: rój agentów samodzielnie tworzy, testuje i wdraża nowy kod w locie.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4338" y="4054078"/>
            <a:ext cx="464343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🧬 Protokół Ciągłej Ewolucji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4338" y="4329113"/>
            <a:ext cx="4643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Samodoskonalenie: oprogramowanie analizujące i modyfikujące własny kod źródłowy.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950119"/>
            <a:ext cx="3629025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342900"/>
            <a:ext cx="8315325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550" b="1" spc="2" kern="0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OMNI-KINETYKA W AKCJI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23" y="1300163"/>
            <a:ext cx="482203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506" y="2032397"/>
            <a:ext cx="2357438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WIZJA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1506" y="2539603"/>
            <a:ext cx="2357438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Analiza obrazu z kamer i radaru ekranowego w czasie rzeczywistym. Rozpoznawanie obiektów w wymiarze cyfrowym i fizycznym.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3186113" y="1039416"/>
            <a:ext cx="2771775" cy="3189684"/>
          </a:xfrm>
          <a:prstGeom prst="rect">
            <a:avLst/>
          </a:prstGeom>
          <a:solidFill>
            <a:srgbClr val="007A7A">
              <a:alpha val="1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3186113" y="1039416"/>
            <a:ext cx="2771775" cy="28575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9" name="Shape 5"/>
          <p:cNvSpPr/>
          <p:nvPr/>
        </p:nvSpPr>
        <p:spPr>
          <a:xfrm>
            <a:off x="3186113" y="4200525"/>
            <a:ext cx="2771775" cy="28575"/>
          </a:xfrm>
          <a:prstGeom prst="rect">
            <a:avLst/>
          </a:prstGeom>
          <a:solidFill>
            <a:srgbClr val="007A7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66" y="1271588"/>
            <a:ext cx="321469" cy="4286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64706" y="2003822"/>
            <a:ext cx="2414588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SŁUCH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64706" y="2511028"/>
            <a:ext cx="2414588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Zaawansowane rozumienie mowy i intencji operatora. Reagowanie na komendy głosowe z empatią analityczną.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830" y="1300163"/>
            <a:ext cx="267891" cy="4286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65056" y="2032397"/>
            <a:ext cx="2357438" cy="36433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DZIAŁANIE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65056" y="2539603"/>
            <a:ext cx="2357438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Fizyczne przejmowanie kontroli nad myszką i klawiaturą. Samodzielne wykonywanie złożonych zadań w systemie Windows.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14338" y="4229100"/>
            <a:ext cx="8315325" cy="85725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A.G.I.S.3 nie tylko asystuje – on fizycznie współdziała z Twoim środowiskiem pracy.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342900"/>
            <a:ext cx="9029700" cy="392906"/>
          </a:xfrm>
          <a:prstGeom prst="rect">
            <a:avLst/>
          </a:prstGeom>
          <a:noFill/>
          <a:ln/>
        </p:spPr>
        <p:txBody>
          <a:bodyPr wrap="square" lIns="425196" tIns="0" rIns="425196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KUŹNIA UMIEJĘTNOŚCI I EWOLUCJA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182291"/>
            <a:ext cx="2857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2994" y="1164431"/>
            <a:ext cx="207012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Multi-Agent Swarm</a:t>
            </a:r>
            <a:endParaRPr lang="en-US" sz="16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678781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42975" y="1643063"/>
            <a:ext cx="3314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 nie czeka na aktualizacje – tworzy je sam w czasie rzeczywistym.</a:t>
            </a:r>
            <a:endParaRPr lang="en-US" sz="12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2370274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42975" y="2334555"/>
            <a:ext cx="3314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Wewnętrzny rój agentów: </a:t>
            </a:r>
            <a:r>
              <a:rPr lang="en-US" sz="12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Innowator</a:t>
            </a: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, </a:t>
            </a:r>
            <a:r>
              <a:rPr lang="en-US" sz="12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Audytor</a:t>
            </a: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i </a:t>
            </a:r>
            <a:r>
              <a:rPr lang="en-US" sz="12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Optymalizator</a:t>
            </a: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.</a:t>
            </a:r>
            <a:endParaRPr lang="en-US" sz="12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3061767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42975" y="3026048"/>
            <a:ext cx="3314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Ciągłe pisanie, testowanie i wdrażanie nowego kodu wewnątrz jądra.</a:t>
            </a:r>
            <a:endParaRPr lang="en-US" sz="12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325" y="1182291"/>
            <a:ext cx="228600" cy="2286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222081" y="1164431"/>
            <a:ext cx="2095686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Protokół Koloseum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4886325" y="1643063"/>
            <a:ext cx="35575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Mechanizm ewolucyjnej konkurencji kodu:</a:t>
            </a:r>
            <a:endParaRPr lang="en-US" sz="1250" dirty="0"/>
          </a:p>
        </p:txBody>
      </p:sp>
      <p:sp>
        <p:nvSpPr>
          <p:cNvPr id="15" name="Shape 7"/>
          <p:cNvSpPr/>
          <p:nvPr/>
        </p:nvSpPr>
        <p:spPr>
          <a:xfrm>
            <a:off x="4886325" y="2131684"/>
            <a:ext cx="3557588" cy="1165827"/>
          </a:xfrm>
          <a:prstGeom prst="rect">
            <a:avLst/>
          </a:prstGeom>
          <a:solidFill>
            <a:srgbClr val="FFFFFF"/>
          </a:solidFill>
          <a:ln w="27432">
            <a:solidFill>
              <a:srgbClr val="FF5A5F"/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4886325" y="2131684"/>
            <a:ext cx="3557588" cy="11658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Jeśli nowy kod jest szybszy lub mniej złożony – wygrywa i zostaje zintegrowany.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3418954"/>
            <a:ext cx="171450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129213" y="3383235"/>
            <a:ext cx="3314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Gwarancja 100% stabilności dzięki izolacji w piaskownicy (Sandbox).</a:t>
            </a:r>
            <a:endParaRPr lang="en-US" sz="12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4110447"/>
            <a:ext cx="171450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129213" y="4074728"/>
            <a:ext cx="33147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Automatyczna naprawa błędów logicznych przed finalną asymilacją.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85775"/>
            <a:ext cx="817245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spc="-2" kern="0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MISJA SPOŁECZNA: ACCESSIBILITY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85775" y="1296591"/>
            <a:ext cx="3743325" cy="140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Największa moc A.G.I.S.3 leży w jego misji społeczno-biznesowej. System został zaprojektowany jako ostateczne narzędzie wspierające dostępność cyfrową.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85775" y="2982348"/>
            <a:ext cx="3743325" cy="2057400"/>
          </a:xfrm>
          <a:prstGeom prst="rect">
            <a:avLst/>
          </a:prstGeom>
          <a:solidFill>
            <a:srgbClr val="FF5A5F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0088" y="3196661"/>
            <a:ext cx="33147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i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"A.G.I.S. nie odbiera pracy – on daje nowe, cyfrowe ręce i oczy tym, którzy najbardziej tego potrzebują."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0" y="1010841"/>
            <a:ext cx="4514850" cy="4075509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8" name="Text 5"/>
          <p:cNvSpPr/>
          <p:nvPr/>
        </p:nvSpPr>
        <p:spPr>
          <a:xfrm>
            <a:off x="5000625" y="1296591"/>
            <a:ext cx="36576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Główny Cel: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5000625" y="1903809"/>
            <a:ext cx="36576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Dedykowane wsparcie dla jednostek o szczególnym znaczeniu społecznym, w tym przede wszystkim dla: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00625" y="2869611"/>
            <a:ext cx="1057275" cy="364331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25" y="2869611"/>
            <a:ext cx="1057275" cy="364331"/>
          </a:xfrm>
          <a:prstGeom prst="rect">
            <a:avLst/>
          </a:prstGeom>
          <a:noFill/>
          <a:ln/>
        </p:spPr>
        <p:txBody>
          <a:bodyPr wrap="non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ZPChr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00625" y="3448255"/>
            <a:ext cx="36576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Zakłady Pracy Chronionej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00625" y="3865438"/>
            <a:ext cx="36576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Tworzenie środowiska pracy wolnego od barier fizycznych i sensorycznych dzięki autonomicznej asyście AI.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032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485775"/>
            <a:ext cx="8315325" cy="1050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A.G.I.S.3 DLA ZPCHR: ZNOSZENIE BARIER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2068116"/>
            <a:ext cx="214313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244" y="2021681"/>
            <a:ext cx="3421856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Naturalna Komunikacja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07244" y="2357438"/>
            <a:ext cx="3421856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Prowadzenie płynnej konwersacji głosowej, eliminujące potrzebę tradycyjnego wprowadzania danych.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3409578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3363144"/>
            <a:ext cx="335041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Empatia Analityczna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78681" y="3698900"/>
            <a:ext cx="3350419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System rozpoznaje intencje oraz oznaki zmęczenia operatora, dostosowując tempo pracy.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4751040"/>
            <a:ext cx="178594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1525" y="4704606"/>
            <a:ext cx="345757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Omni-Kinetyka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71525" y="5040362"/>
            <a:ext cx="3457575" cy="7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Fizyczna obsługa interfejsów Windows, wypełnianie dokumentów i baz danych bez użycia rąk.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572000" y="1735931"/>
            <a:ext cx="4514850" cy="4310137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14" name="Shape 8"/>
          <p:cNvSpPr/>
          <p:nvPr/>
        </p:nvSpPr>
        <p:spPr>
          <a:xfrm>
            <a:off x="4857750" y="2583359"/>
            <a:ext cx="3943350" cy="1686595"/>
          </a:xfrm>
          <a:prstGeom prst="rect">
            <a:avLst/>
          </a:prstGeom>
          <a:solidFill>
            <a:srgbClr val="007A7A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72063" y="2826246"/>
            <a:ext cx="3514725" cy="104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"A.G.I.S.3 staje się cyfrowymi rękami i oczami dla tych, którzy najbardziej tego potrzebują w środowisku pracy."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72063" y="4009206"/>
            <a:ext cx="2473802" cy="232172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7" name="Text 11"/>
          <p:cNvSpPr/>
          <p:nvPr/>
        </p:nvSpPr>
        <p:spPr>
          <a:xfrm>
            <a:off x="5072063" y="4009206"/>
            <a:ext cx="2473802" cy="232172"/>
          </a:xfrm>
          <a:prstGeom prst="rect">
            <a:avLst/>
          </a:prstGeom>
          <a:noFill/>
          <a:ln/>
        </p:spPr>
        <p:txBody>
          <a:bodyPr wrap="square" lIns="170053" tIns="8509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CYFROWY WSPÓŁPRACOWNIK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644" y="4670003"/>
            <a:ext cx="107156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342900"/>
            <a:ext cx="831532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EGIDA FORTECA: ARCHITEKTURA WIELOAGENTOWA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84" y="1560909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4038" y="2014538"/>
            <a:ext cx="128358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LEGION I: EGIDA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885713" y="2264569"/>
            <a:ext cx="720235" cy="128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885713" y="2264569"/>
            <a:ext cx="720235" cy="128588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SILNIKI 1–10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40761" y="2536031"/>
            <a:ext cx="121014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Cyber-Defense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40761" y="2767478"/>
            <a:ext cx="121014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Aktywna tarcza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40761" y="2998924"/>
            <a:ext cx="121014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Wykrywanie wirusów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40761" y="3230370"/>
            <a:ext cx="121014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Blokowanie skryptów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077380" y="1378744"/>
            <a:ext cx="1663043" cy="3707606"/>
          </a:xfrm>
          <a:prstGeom prst="rect">
            <a:avLst/>
          </a:prstGeom>
          <a:solidFill>
            <a:srgbClr val="007A7A">
              <a:alpha val="5000"/>
            </a:srgbClr>
          </a:solidFill>
          <a:ln w="27432">
            <a:solidFill>
              <a:srgbClr val="007A7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761" y="2536031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40761" y="2767478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0761" y="2998924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40761" y="3230370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27" y="1532334"/>
            <a:ext cx="285750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84536" y="1985963"/>
            <a:ext cx="144873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LEGION II: NEOCORTEX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523753" y="2414588"/>
            <a:ext cx="770297" cy="128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2523753" y="2414588"/>
            <a:ext cx="770297" cy="128588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SILNIKI 11–20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2338741" y="2686050"/>
            <a:ext cx="114032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Analiza danych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2338741" y="2917496"/>
            <a:ext cx="114032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Bazy wektorowe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2338741" y="3148943"/>
            <a:ext cx="114032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Pamięć długotrwała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2338741" y="3380389"/>
            <a:ext cx="114032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Synteza wiedzy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2338741" y="2686050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338741" y="2917496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338741" y="3148943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2338741" y="3380389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350" y="1560909"/>
            <a:ext cx="357188" cy="28575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904729" y="2014538"/>
            <a:ext cx="133448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LEGION III: OMEGA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184061" y="2443163"/>
            <a:ext cx="775822" cy="128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4184061" y="2443163"/>
            <a:ext cx="775822" cy="128588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SILNIKI 21–30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4001839" y="2714625"/>
            <a:ext cx="11402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Omni-Kinetyka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4001839" y="2946071"/>
            <a:ext cx="11402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Kontrola Windows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001839" y="3177518"/>
            <a:ext cx="11402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Fizyczna egzekucja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4001839" y="3408964"/>
            <a:ext cx="11402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Automatyzacja UI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5403521" y="1378744"/>
            <a:ext cx="1663043" cy="3707606"/>
          </a:xfrm>
          <a:prstGeom prst="rect">
            <a:avLst/>
          </a:prstGeom>
          <a:solidFill>
            <a:srgbClr val="007A7A">
              <a:alpha val="5000"/>
            </a:srgbClr>
          </a:solidFill>
          <a:ln w="27432">
            <a:solidFill>
              <a:srgbClr val="007A7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001839" y="2714625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001839" y="2946071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001839" y="3177518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4001839" y="3408964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4308" y="1532334"/>
            <a:ext cx="321469" cy="2857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510678" y="1985963"/>
            <a:ext cx="144873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LEGION IV: SENSORYKA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847104" y="2414588"/>
            <a:ext cx="775822" cy="128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38"/>
          <p:cNvSpPr/>
          <p:nvPr/>
        </p:nvSpPr>
        <p:spPr>
          <a:xfrm>
            <a:off x="5847104" y="2414588"/>
            <a:ext cx="775822" cy="128588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SILNIKI 31–40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5591826" y="2686050"/>
            <a:ext cx="128643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Omni-Vision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5591826" y="2917496"/>
            <a:ext cx="128643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Radar ekranowy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5591826" y="3148943"/>
            <a:ext cx="128643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Rozpoznawanie mowy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5591826" y="3380389"/>
            <a:ext cx="1286433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Analiza obrazu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5591826" y="2686050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5591826" y="2917496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5591826" y="3148943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5591826" y="3380389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070" y="1560909"/>
            <a:ext cx="250031" cy="28575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7202295" y="2014538"/>
            <a:ext cx="139163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LEGION V: KUŹNIA</a:t>
            </a:r>
            <a:endParaRPr lang="en-US" sz="1100" dirty="0"/>
          </a:p>
        </p:txBody>
      </p:sp>
      <p:sp>
        <p:nvSpPr>
          <p:cNvPr id="56" name="Shape 48"/>
          <p:cNvSpPr/>
          <p:nvPr/>
        </p:nvSpPr>
        <p:spPr>
          <a:xfrm>
            <a:off x="7510202" y="2443163"/>
            <a:ext cx="775822" cy="128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49"/>
          <p:cNvSpPr/>
          <p:nvPr/>
        </p:nvSpPr>
        <p:spPr>
          <a:xfrm>
            <a:off x="7510202" y="2443163"/>
            <a:ext cx="775822" cy="128588"/>
          </a:xfrm>
          <a:prstGeom prst="rect">
            <a:avLst/>
          </a:prstGeom>
          <a:noFill/>
          <a:ln/>
        </p:spPr>
        <p:txBody>
          <a:bodyPr wrap="none" lIns="68072" tIns="17018" rIns="68072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SILNIKI 41–50</a:t>
            </a:r>
            <a:endParaRPr lang="en-US" sz="700" dirty="0"/>
          </a:p>
        </p:txBody>
      </p:sp>
      <p:sp>
        <p:nvSpPr>
          <p:cNvPr id="58" name="Text 50"/>
          <p:cNvSpPr/>
          <p:nvPr/>
        </p:nvSpPr>
        <p:spPr>
          <a:xfrm>
            <a:off x="7245381" y="2714625"/>
            <a:ext cx="13054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Ewolucja kodu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7245381" y="2946071"/>
            <a:ext cx="13054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Optymalizacja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7245381" y="3177518"/>
            <a:ext cx="13054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Self-Healing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7245381" y="3408964"/>
            <a:ext cx="130546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Generowanie skryptów</a:t>
            </a:r>
            <a:endParaRPr lang="en-US" sz="850" dirty="0"/>
          </a:p>
        </p:txBody>
      </p:sp>
      <p:sp>
        <p:nvSpPr>
          <p:cNvPr id="62" name="Text 54"/>
          <p:cNvSpPr/>
          <p:nvPr/>
        </p:nvSpPr>
        <p:spPr>
          <a:xfrm>
            <a:off x="7245381" y="2714625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7245381" y="2946071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7245381" y="3177518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245381" y="3408964"/>
            <a:ext cx="66749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&gt;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342900"/>
            <a:ext cx="8315325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DOKTRYNA CYFROWEJ FORTECY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203722"/>
            <a:ext cx="285750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1525" y="1230511"/>
            <a:ext cx="217058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KRYPTOGRAFIA HWID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2900" y="1632347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Dane szyfrowane kluczem generowanym z </a:t>
            </a:r>
            <a:r>
              <a:rPr lang="en-US" sz="10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Odcisku Palca </a:t>
            </a:r>
            <a:r>
              <a:rPr lang="en-US" sz="10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Maszyny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. Bazy pamięci są bezużyteczne po skopiowaniu na 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inny komputer.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1203722"/>
            <a:ext cx="357188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86388" y="1230511"/>
            <a:ext cx="135586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SANDBOXING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886325" y="1632347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Kwarantanna Wykonawcza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: Nowy kod jest analizowany 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przez AST Sentinel i uruchamiany w izolowanej piaskownicy 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przed wdrożeniem.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85775" y="3280767"/>
            <a:ext cx="23669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ZERO-CLOUD LEAKAGE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42900" y="3655814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Absolutna suwerenność informacyjna. </a:t>
            </a:r>
            <a:r>
              <a:rPr lang="en-US" sz="10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100% lokalne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przetwarzanie logiki i pamięci. Żadne poufne dane nie 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opuszczają stacji.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3280767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14950" y="3307556"/>
            <a:ext cx="211120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ZERO-TRUST SWARM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4886325" y="3709392"/>
            <a:ext cx="391477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Żaden moduł nie ma pełnej władzy. Każdy krok systemu 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weryfikowany jest przez rygorystyczny </a:t>
            </a:r>
            <a:r>
              <a:rPr lang="en-US" sz="100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Konsensus Rojowy</a:t>
            </a:r>
            <a:r>
              <a:rPr lang="en-US" sz="10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 między Legionami.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342900"/>
            <a:ext cx="8315325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PODSUMOWANIE INNOWACYJNOŚCI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983" y="1275159"/>
            <a:ext cx="446484" cy="3571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4467" y="1832372"/>
            <a:ext cx="12314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EMBODIED AI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21506" y="2153841"/>
            <a:ext cx="2357438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Traktowanie komputera jako fizycznego ciała AI, a nie tylko pasywnego narzędzia.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8" y="1275159"/>
            <a:ext cx="314325" cy="3571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85034" y="1832372"/>
            <a:ext cx="217393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PROTOKÓŁ KOLOSEUM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3393281" y="2153841"/>
            <a:ext cx="2357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Autonomiczna ewolucja i samonaprawa kodu poprzez mechanizm konkurencji.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533" y="1275159"/>
            <a:ext cx="446484" cy="3571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5588" y="1832372"/>
            <a:ext cx="11763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LOKALNOŚĆ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165056" y="2153841"/>
            <a:ext cx="2357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100% prywatności dzięki Zero-Cloud Leakage i szyfrowaniu HWID.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983" y="3309342"/>
            <a:ext cx="446484" cy="3571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85645" y="3866555"/>
            <a:ext cx="20291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MULTI-AGENT SWARM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21506" y="4188023"/>
            <a:ext cx="2357438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Siatka 50 silników ewolucyjnych podzielona na 5 wyspecjalizowanych Legionów.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406" y="3309342"/>
            <a:ext cx="357188" cy="3571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693096" y="3866555"/>
            <a:ext cx="175780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MISJA SPOŁECZNA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3393281" y="4188023"/>
            <a:ext cx="2357438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Realne wsparcie dla ZPChr i znoszenie barier dla osób z niepełnosprawnościami.</a:t>
            </a:r>
            <a:endParaRPr lang="en-US" sz="950" dirty="0"/>
          </a:p>
        </p:txBody>
      </p:sp>
      <p:sp>
        <p:nvSpPr>
          <p:cNvPr id="19" name="Shape 11"/>
          <p:cNvSpPr/>
          <p:nvPr/>
        </p:nvSpPr>
        <p:spPr>
          <a:xfrm>
            <a:off x="5957888" y="3052167"/>
            <a:ext cx="2771775" cy="2034183"/>
          </a:xfrm>
          <a:prstGeom prst="rect">
            <a:avLst/>
          </a:prstGeom>
          <a:solidFill>
            <a:srgbClr val="007A7A"/>
          </a:solidFill>
          <a:ln w="27432">
            <a:solidFill>
              <a:srgbClr val="007A7A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181" y="3280767"/>
            <a:ext cx="357188" cy="3571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61863" y="3837980"/>
            <a:ext cx="763823" cy="27860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128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A.G.I.S.3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6136481" y="4223742"/>
            <a:ext cx="241458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Kompletny system autonomicznego zarządzania i integralności przyszłości.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95053" y="173236"/>
            <a:ext cx="6153894" cy="73580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FF5A5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PRZYSZŁOŚĆ Z A.G.I.S.3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1000125" y="1194792"/>
            <a:ext cx="7143750" cy="23288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00125" y="1194792"/>
            <a:ext cx="7143750" cy="57150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3466505"/>
            <a:ext cx="7143750" cy="57150"/>
          </a:xfrm>
          <a:prstGeom prst="rect">
            <a:avLst/>
          </a:prstGeom>
          <a:solidFill>
            <a:srgbClr val="007A7A"/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1194792"/>
            <a:ext cx="7143750" cy="2328863"/>
          </a:xfrm>
          <a:prstGeom prst="rect">
            <a:avLst/>
          </a:prstGeom>
          <a:noFill/>
          <a:ln/>
        </p:spPr>
        <p:txBody>
          <a:bodyPr wrap="square" lIns="0" tIns="170053" rIns="0" bIns="170053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A.G.I.S.3 to nie tylko technologia, to wizja przyszłości, w której </a:t>
            </a: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AI staje się </a:t>
            </a:r>
            <a:r>
              <a:rPr lang="en-US" sz="1800" b="1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prawdziwym partnerem</a:t>
            </a: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, wspierającym ludzkość </a:t>
            </a: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w najbardziej wymagających obszarach. Jego potencjał w </a:t>
            </a: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zakresie dostępności i autonomii otwiera nowe perspektywy </a:t>
            </a:r>
            <a:r>
              <a:rPr lang="en-US" sz="1900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dla rozwoju technologicznego i społecznego.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066510" y="3895130"/>
            <a:ext cx="3010923" cy="678656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Dziękuję za uwagę</a:t>
            </a:r>
            <a:endParaRPr lang="en-US" sz="2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491" y="4720233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99941" y="4720233"/>
            <a:ext cx="311551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07A7A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Hiper-Autonomiczny System Przyszłości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2026-07-30T09:42:36Z</dcterms:created>
  <dcterms:modified xsi:type="dcterms:W3CDTF">2026-07-30T09:42:36Z</dcterms:modified>
</cp:coreProperties>
</file>